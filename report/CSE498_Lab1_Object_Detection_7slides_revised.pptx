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compare_test12.jpg">    </p:cNvPr>
          <p:cNvPicPr>
            <a:picLocks noChangeAspect="1"/>
          </p:cNvPicPr>
          <p:nvPr/>
        </p:nvPicPr>
        <p:blipFill>
          <a:blip r:embed="rId1"/>
          <a:srcRect l="0" r="0" t="2610" b="2610"/>
          <a:stretch/>
        </p:blipFill>
        <p:spPr>
          <a:xfrm>
            <a:off x="0" y="3566160"/>
            <a:ext cx="12191695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 with YOLO11 and YOLOE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3232" y="1325880"/>
            <a:ext cx="9418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Pretrained baseline → fine-tuned YOLO11n → YOLOE text prompts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2148840" cy="27432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897380"/>
            <a:ext cx="2020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17 webcam test images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3063240" y="182880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27248" y="1897380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custom objects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897380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model comparison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7589520" y="1828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0/17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58952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pretrained YOLO11n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9144000" y="1828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17/17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144000" y="2240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fine-tuned YOLO11n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0607040" y="17556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17/17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607040" y="21671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YOLOE text prompts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(appearance-based)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How YOLO11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A one-stage detector turns an image into multi-scale feature maps and directly predicts boxes + classes.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1965960" y="1920240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60520" y="1920240"/>
            <a:ext cx="8229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55080" y="1920240"/>
            <a:ext cx="8229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49640" y="1920240"/>
            <a:ext cx="8229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490472"/>
            <a:ext cx="10789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image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0664" y="1801368"/>
            <a:ext cx="10789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frame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resized to 640×640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788920" y="13258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490472"/>
            <a:ext cx="10789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35224" y="1801368"/>
            <a:ext cx="10789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+ C3k2 + SPPF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visual features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983480" y="13258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1490472"/>
            <a:ext cx="10789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Neck / PAN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29784" y="1801368"/>
            <a:ext cx="10789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up-sample + concat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small/large object cues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178040" y="13258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1490472"/>
            <a:ext cx="10789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Anchor-free head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24344" y="1801368"/>
            <a:ext cx="10789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predict box coordinates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class scores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372600" y="132588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8904" y="1490472"/>
            <a:ext cx="11704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18904" y="1801368"/>
            <a:ext cx="11704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 box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+ confidence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32461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461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538728"/>
            <a:ext cx="1005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C3k2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886200"/>
            <a:ext cx="26060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feature block: keeps the model lightweight while improving feature extraction.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4681728" y="3538728"/>
            <a:ext cx="1188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C2PSA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81728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attention: helps the detector focus on important regions instead of treating all features equally.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841248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Closed-set labels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Pretrained YOLO11n can only output its fixed COCO-style label vocabulary unless it is fine-tuned.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960120" y="5559552"/>
            <a:ext cx="10149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in my experiment: chip_bag, pepper_shaker, and earphone_case are not native COCO labels, so the baseline can localize similar shapes but cannot name the exact objects.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Experiment 1 — Pretrained YOLO11n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I converted the original live webcam demo into a logged, repeatable evaluation on the same 17 images.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640080" y="1152144"/>
            <a:ext cx="40690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capture_baseline.py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MODEL_PATH = './models/yolo11n.pt'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CAM_INDEX = 1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 = 0.25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Press s to save raw image + annotated image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CSV: class, confidence, box, ground_truth, correct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low-confidence boxes (&lt;0.50) are drawn in red</a:t>
            </a:r>
            <a:endParaRPr lang="en-US" sz="740" dirty="0"/>
          </a:p>
        </p:txBody>
      </p:sp>
      <p:pic>
        <p:nvPicPr>
          <p:cNvPr id="5" name="Image 0" descr="/mnt/data/ppt_assets/exp1_baseline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7722" y="1143000"/>
            <a:ext cx="4929475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290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0/17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target label correct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2377440" y="3429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580C"/>
                </a:solidFill>
              </a:rPr>
              <a:t>0.25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377440" y="38404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threshold exposes weak detections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416052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17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4160520" y="3840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fixed test images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58368" y="461772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461772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19872" y="461772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892040"/>
            <a:ext cx="2468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1: wrong COCO class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896112" y="5230368"/>
            <a:ext cx="2651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 bag → person / suitcase / backpack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4626864" y="4892040"/>
            <a:ext cx="2468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2: only generic match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4626864" y="5230368"/>
            <a:ext cx="2651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pepper shaker → bottle, not the product class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8357616" y="4892040"/>
            <a:ext cx="2468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3: high-conf wrong label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8357616" y="5230368"/>
            <a:ext cx="2651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earphone case → mouse, up to 0.97 on test12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Experiment 2 — Fine-tuned YOLO11n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Fine-tuning changed the label space while keeping the same YOLO11n base model for a fair comparison.</a:t>
            </a:r>
            <a:endParaRPr lang="en-US" sz="1030" dirty="0"/>
          </a:p>
        </p:txBody>
      </p:sp>
      <p:pic>
        <p:nvPicPr>
          <p:cNvPr id="4" name="Image 0" descr="/mnt/data/ppt_assets/exp2_finetuned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940"/>
            <a:ext cx="5120640" cy="2422144"/>
          </a:xfrm>
          <a:prstGeom prst="rect">
            <a:avLst/>
          </a:prstGeom>
        </p:spPr>
      </p:pic>
      <p:pic>
        <p:nvPicPr>
          <p:cNvPr id="5" name="Image 1" descr="/mnt/data/project/webcam-object-recognition/experiment2_yolo11_finetuning/results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7305"/>
            <a:ext cx="1965960" cy="1474470"/>
          </a:xfrm>
          <a:prstGeom prst="rect">
            <a:avLst/>
          </a:prstGeom>
        </p:spPr>
      </p:pic>
      <p:pic>
        <p:nvPicPr>
          <p:cNvPr id="6" name="Image 2" descr="/mnt/data/project/webcam-object-recognition/experiment2_yolo11_finetuning/results/resul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03020"/>
            <a:ext cx="2926080" cy="14630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58368" y="397764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429000" y="397764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199632" y="397764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979408" y="397764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68680" y="4233672"/>
            <a:ext cx="822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8680" y="4553712"/>
            <a:ext cx="17556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phone photos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33/9/5 split, 112 augmented</a:t>
            </a:r>
            <a:endParaRPr lang="en-US" sz="960" dirty="0"/>
          </a:p>
        </p:txBody>
      </p:sp>
      <p:sp>
        <p:nvSpPr>
          <p:cNvPr id="13" name="Text 8"/>
          <p:cNvSpPr/>
          <p:nvPr/>
        </p:nvSpPr>
        <p:spPr>
          <a:xfrm>
            <a:off x="3639312" y="4233672"/>
            <a:ext cx="1005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39312" y="4553712"/>
            <a:ext cx="18288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 T4, 100 epochs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yolo11n.pt (not yolo11s)</a:t>
            </a:r>
            <a:endParaRPr lang="en-US" sz="960" dirty="0"/>
          </a:p>
        </p:txBody>
      </p:sp>
      <p:sp>
        <p:nvSpPr>
          <p:cNvPr id="15" name="Text 10"/>
          <p:cNvSpPr/>
          <p:nvPr/>
        </p:nvSpPr>
        <p:spPr>
          <a:xfrm>
            <a:off x="6409944" y="423367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9944" y="4553712"/>
            <a:ext cx="18288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mAP50 0.995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mAP50-95 0.749; val n=9</a:t>
            </a:r>
            <a:endParaRPr lang="en-US" sz="960" dirty="0"/>
          </a:p>
        </p:txBody>
      </p:sp>
      <p:sp>
        <p:nvSpPr>
          <p:cNvPr id="17" name="Text 12"/>
          <p:cNvSpPr/>
          <p:nvPr/>
        </p:nvSpPr>
        <p:spPr>
          <a:xfrm>
            <a:off x="9189720" y="4233672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 test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89720" y="4553712"/>
            <a:ext cx="16459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17/17 correct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conf ~0.82</a:t>
            </a:r>
            <a:endParaRPr lang="en-US" sz="960" dirty="0"/>
          </a:p>
        </p:txBody>
      </p:sp>
      <p:sp>
        <p:nvSpPr>
          <p:cNvPr id="19" name="Text 14"/>
          <p:cNvSpPr/>
          <p:nvPr/>
        </p:nvSpPr>
        <p:spPr>
          <a:xfrm>
            <a:off x="868680" y="5532120"/>
            <a:ext cx="10332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40" dirty="0">
                <a:solidFill>
                  <a:srgbClr val="111827"/>
                </a:solidFill>
              </a:rPr>
              <a:t>Important details: test15 was the weakest correct detection (~0.312), and test17 produced an extra low-confidence box.</a:t>
            </a:r>
            <a:endParaRPr lang="en-US" sz="1140" dirty="0"/>
          </a:p>
          <a:p>
            <a:r>
              <a:rPr lang="en-US" sz="1140" dirty="0">
                <a:solidFill>
                  <a:srgbClr val="111827"/>
                </a:solidFill>
              </a:rPr>
              <a:t>test12 shows confidence is not correctness: baseline mouse 0.97 was wrong; the correct fine-tuned prediction was lower (~0.88).</a:t>
            </a:r>
            <a:endParaRPr lang="en-US" sz="1140" dirty="0"/>
          </a:p>
          <a:p>
            <a:r>
              <a:rPr lang="en-US" sz="1140" dirty="0">
                <a:solidFill>
                  <a:srgbClr val="111827"/>
                </a:solidFill>
              </a:rPr>
              <a:t>Because the validation set has only 9 images, the 17-image webcam test is the more meaningful evidence.</a:t>
            </a:r>
            <a:endParaRPr lang="en-US" sz="1140" dirty="0"/>
          </a:p>
        </p:txBody>
      </p:sp>
      <p:sp>
        <p:nvSpPr>
          <p:cNvPr id="20" name="Text 15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Open-set object detection and YOLOE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Open-set / open-vocabulary detection lets the user provide new target categories at inference time.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621792" y="1170432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07408" y="1170432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3024" y="1170432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Closed-set YOLO11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70" dirty="0">
                <a:solidFill>
                  <a:srgbClr val="111827"/>
                </a:solidFill>
              </a:rPr>
              <a:t>Class list is fixed after training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Good when labels are known and annotated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Needs fine-tuning for new classes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896112" y="3383280"/>
            <a:ext cx="24688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→ visual features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Detect head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fixed class logits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4681728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Open-set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1920240"/>
            <a:ext cx="25603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70" dirty="0">
                <a:solidFill>
                  <a:srgbClr val="111827"/>
                </a:solidFill>
              </a:rPr>
              <a:t>The class vocabulary is supplied at test time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Texts or prompts become semantic targets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Performance depends on prompt-object alignment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681728" y="3383280"/>
            <a:ext cx="24688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words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image features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match regions to prompts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467344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YOLOE changes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67344" y="1920240"/>
            <a:ext cx="269748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70" dirty="0">
                <a:solidFill>
                  <a:srgbClr val="111827"/>
                </a:solidFill>
              </a:rPr>
              <a:t>RepRTA: text-prompt adaptation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SAVPE: visual-prompt encoder (not used here)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</a:rPr>
              <a:t>LRPC: lightweight region-prompt classifier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8467344" y="331012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model.set_classes(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model.get_text_pe(names)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960120" y="5806440"/>
            <a:ext cx="10149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conceptually: YOLOE replaces a fixed class-logit head with prompt / embedding matching, so a phrase can define what the detector should look for.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Experiment 3 — YOLOE text prompt sensitivity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Same YOLOE model, same 17 images; only the text prompt wording and confidence threshold changed.</a:t>
            </a:r>
            <a:endParaRPr lang="en-US" sz="1030" dirty="0"/>
          </a:p>
        </p:txBody>
      </p:sp>
      <p:pic>
        <p:nvPicPr>
          <p:cNvPr id="4" name="Image 0" descr="/mnt/data/ppt_assets/exp3_promp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16228"/>
            <a:ext cx="3520440" cy="1665224"/>
          </a:xfrm>
          <a:prstGeom prst="rect">
            <a:avLst/>
          </a:prstGeom>
        </p:spPr>
      </p:pic>
      <p:pic>
        <p:nvPicPr>
          <p:cNvPr id="5" name="Image 1" descr="/mnt/data/ppt_assets/exp3_promptA_conf0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16228"/>
            <a:ext cx="3520440" cy="1665224"/>
          </a:xfrm>
          <a:prstGeom prst="rect">
            <a:avLst/>
          </a:prstGeom>
        </p:spPr>
      </p:pic>
      <p:pic>
        <p:nvPicPr>
          <p:cNvPr id="6" name="Image 2" descr="/mnt/data/ppt_assets/exp3_prompt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316228"/>
            <a:ext cx="3520440" cy="166522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94360" y="34290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343400" y="34290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092440" y="34290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6868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A: class names</a:t>
            </a:r>
            <a:endParaRPr lang="en-US" sz="1420" dirty="0"/>
          </a:p>
        </p:txBody>
      </p:sp>
      <p:sp>
        <p:nvSpPr>
          <p:cNvPr id="11" name="Text 6"/>
          <p:cNvSpPr/>
          <p:nvPr/>
        </p:nvSpPr>
        <p:spPr>
          <a:xfrm>
            <a:off x="868680" y="4041648"/>
            <a:ext cx="1874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 bag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pepper shaker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earphone case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 = 0.25</a:t>
            </a:r>
            <a:endParaRPr lang="en-US" sz="740" dirty="0"/>
          </a:p>
        </p:txBody>
      </p:sp>
      <p:sp>
        <p:nvSpPr>
          <p:cNvPr id="12" name="Text 7"/>
          <p:cNvSpPr/>
          <p:nvPr/>
        </p:nvSpPr>
        <p:spPr>
          <a:xfrm>
            <a:off x="2999232" y="3931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3/17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2999232" y="43434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correct</a:t>
            </a:r>
            <a:endParaRPr lang="en-US" sz="930" dirty="0"/>
          </a:p>
        </p:txBody>
      </p:sp>
      <p:sp>
        <p:nvSpPr>
          <p:cNvPr id="14" name="Text 9"/>
          <p:cNvSpPr/>
          <p:nvPr/>
        </p:nvSpPr>
        <p:spPr>
          <a:xfrm>
            <a:off x="4617720" y="3685032"/>
            <a:ext cx="2194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 + lower conf</a:t>
            </a:r>
            <a:endParaRPr lang="en-US" sz="1420" dirty="0"/>
          </a:p>
        </p:txBody>
      </p:sp>
      <p:sp>
        <p:nvSpPr>
          <p:cNvPr id="15" name="Text 10"/>
          <p:cNvSpPr/>
          <p:nvPr/>
        </p:nvSpPr>
        <p:spPr>
          <a:xfrm>
            <a:off x="4617720" y="4133088"/>
            <a:ext cx="16916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text prompts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 = 0.05</a:t>
            </a:r>
            <a:endParaRPr lang="en-US" sz="740" dirty="0"/>
          </a:p>
        </p:txBody>
      </p:sp>
      <p:sp>
        <p:nvSpPr>
          <p:cNvPr id="16" name="Text 11"/>
          <p:cNvSpPr/>
          <p:nvPr/>
        </p:nvSpPr>
        <p:spPr>
          <a:xfrm>
            <a:off x="6812280" y="3931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580C"/>
                </a:solidFill>
              </a:rPr>
              <a:t>7/17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6812280" y="43434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correct</a:t>
            </a:r>
            <a:endParaRPr lang="en-US" sz="930" dirty="0"/>
          </a:p>
        </p:txBody>
      </p:sp>
      <p:sp>
        <p:nvSpPr>
          <p:cNvPr id="18" name="Text 13"/>
          <p:cNvSpPr/>
          <p:nvPr/>
        </p:nvSpPr>
        <p:spPr>
          <a:xfrm>
            <a:off x="8366760" y="3685032"/>
            <a:ext cx="2377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B: appearance-based</a:t>
            </a:r>
            <a:endParaRPr lang="en-US" sz="1420" dirty="0"/>
          </a:p>
        </p:txBody>
      </p:sp>
      <p:sp>
        <p:nvSpPr>
          <p:cNvPr id="19" name="Text 14"/>
          <p:cNvSpPr/>
          <p:nvPr/>
        </p:nvSpPr>
        <p:spPr>
          <a:xfrm>
            <a:off x="8366760" y="4041648"/>
            <a:ext cx="1600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 package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spice bottle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white plastic case</a:t>
            </a:r>
            <a:endParaRPr lang="en-US" sz="740" dirty="0"/>
          </a:p>
        </p:txBody>
      </p:sp>
      <p:sp>
        <p:nvSpPr>
          <p:cNvPr id="20" name="Text 15"/>
          <p:cNvSpPr/>
          <p:nvPr/>
        </p:nvSpPr>
        <p:spPr>
          <a:xfrm>
            <a:off x="1046988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17/17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10469880" y="43434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</a:rPr>
              <a:t>correct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914400" y="5650992"/>
            <a:ext cx="101498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lesson: this was not YOLOE visual prompting. It was YOLOE text prompting, and appearance-based wording aligned better with the image features than product/category names.</a:t>
            </a:r>
            <a:endParaRPr lang="en-US" sz="1330" dirty="0"/>
          </a:p>
        </p:txBody>
      </p:sp>
      <p:sp>
        <p:nvSpPr>
          <p:cNvPr id="23" name="Text 18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Final comparison, limitations, and repository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</a:rPr>
              <a:t>The strongest result is not only the scores, but the controlled comparison across the same images.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76072" y="1078992"/>
            <a:ext cx="192024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19786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2496312" y="1078992"/>
            <a:ext cx="118872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51176" y="11978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685032" y="1078992"/>
            <a:ext cx="187452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1197864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559552" y="1078992"/>
            <a:ext cx="278892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14416" y="1197864"/>
            <a:ext cx="2679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control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348472" y="1078992"/>
            <a:ext cx="283464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197864"/>
            <a:ext cx="2724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76072" y="148132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166420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YOLO11n pretrained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496312" y="1481328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6642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0/17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685032" y="1481328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664208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559552" y="148132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1664208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17 images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348472" y="1481328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1664208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label space failed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76072" y="201168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21945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YOLO11n fine-tuned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496312" y="201168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219456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17/17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685032" y="2011680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9896" y="2194560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images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559552" y="2011680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2194560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base model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8348472" y="201168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2194560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labels solved gap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76072" y="254203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272491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YOLOE Prompt A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2496312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51176" y="27249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3→7/17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685032" y="2542032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9896" y="272491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5559552" y="2542032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2724912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model/images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348472" y="2542032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03336" y="2724912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names were weak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76072" y="307238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3255264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YOLOE Prompt B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2496312" y="3072384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51176" y="325526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17/17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3685032" y="3072384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9896" y="3255264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5559552" y="307238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416" y="32552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prompt only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348472" y="3072384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03336" y="3255264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 words worked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640080" y="37947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70832" y="37947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01584" y="37947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14400" y="4434840"/>
            <a:ext cx="26060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40" dirty="0">
                <a:solidFill>
                  <a:srgbClr val="111827"/>
                </a:solidFill>
              </a:rPr>
              <a:t>47 training images only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single scene + similar lighting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validation split only 9 images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test03 duplicate / non-mutual prompts in YOLOE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4645152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package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4645152" y="4434840"/>
            <a:ext cx="26060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40" dirty="0">
                <a:solidFill>
                  <a:srgbClr val="111827"/>
                </a:solidFill>
              </a:rPr>
              <a:t>three experiment folders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raw + annotated images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CSV logs, labels, best.pt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README and reproducible commands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8375904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375904" y="4434840"/>
            <a:ext cx="26060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40" dirty="0">
                <a:solidFill>
                  <a:srgbClr val="111827"/>
                </a:solidFill>
              </a:rPr>
              <a:t>Fine-tuning is reliable with labels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YOLOE is flexible without training</a:t>
            </a:r>
            <a:endParaRPr lang="en-US" sz="940" dirty="0"/>
          </a:p>
          <a:p>
            <a:r>
              <a:rPr lang="en-US" sz="940" dirty="0">
                <a:solidFill>
                  <a:srgbClr val="111827"/>
                </a:solidFill>
              </a:rPr>
              <a:t>prompt wording is a real experimental variable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868680" y="5925312"/>
            <a:ext cx="104241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message: supervised fine-tuning gave stable closed-set accuracy; YOLOE showed open-set flexibility, but only when text prompts described visible appearance rather than assumed object identity.</a:t>
            </a:r>
            <a:endParaRPr lang="en-US" sz="1260" dirty="0"/>
          </a:p>
        </p:txBody>
      </p:sp>
      <p:sp>
        <p:nvSpPr>
          <p:cNvPr id="64" name="Text 62"/>
          <p:cNvSpPr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with YOLO11 and YOLOE</dc:title>
  <dc:subject>CSE498 Lab 1 Object Detection</dc:subject>
  <dc:creator>Xiaoxi Gao</dc:creator>
  <cp:lastModifiedBy>Xiaoxi Gao</cp:lastModifiedBy>
  <cp:revision>1</cp:revision>
  <dcterms:created xsi:type="dcterms:W3CDTF">2026-09-06T18:52:08Z</dcterms:created>
  <dcterms:modified xsi:type="dcterms:W3CDTF">2026-09-06T18:52:08Z</dcterms:modified>
</cp:coreProperties>
</file>